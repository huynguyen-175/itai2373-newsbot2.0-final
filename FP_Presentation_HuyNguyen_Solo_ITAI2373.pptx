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-456" y="-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114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000000"/>
                </a:solidFill>
              </a:rPr>
              <a:t>🤖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NewsBot Intelligence System 2.0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71600" y="141732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NLP Integration &amp; Analysis Platform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65760" y="2057400"/>
            <a:ext cx="8412480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240280"/>
            <a:ext cx="2011680" cy="38404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2402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A: Topic Modeling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14600" y="2240280"/>
            <a:ext cx="2011680" cy="384048"/>
          </a:xfrm>
          <a:prstGeom prst="rect">
            <a:avLst/>
          </a:prstGeom>
          <a:solidFill>
            <a:srgbClr val="14A085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22402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B: Summarization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2240280"/>
            <a:ext cx="2011680" cy="384048"/>
          </a:xfrm>
          <a:prstGeom prst="rect">
            <a:avLst/>
          </a:prstGeom>
          <a:solidFill>
            <a:srgbClr val="0D5C8A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2402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C: Multilingual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12280" y="2240280"/>
            <a:ext cx="2011680" cy="384048"/>
          </a:xfrm>
          <a:prstGeom prst="rect">
            <a:avLst/>
          </a:prstGeom>
          <a:solidFill>
            <a:srgbClr val="1A5E35"/>
          </a:solidFill>
          <a:ln/>
        </p:spPr>
      </p:sp>
      <p:sp>
        <p:nvSpPr>
          <p:cNvPr id="14" name="Text 12"/>
          <p:cNvSpPr/>
          <p:nvPr/>
        </p:nvSpPr>
        <p:spPr>
          <a:xfrm>
            <a:off x="6812280" y="22402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D: Conversational AI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7432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 Nguyen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1089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ITAI 2373 — NLP  |  HCC Spring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34747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upon: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NewsBot 1.0 Midterm Foundation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0" y="452628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  |  Solo Submission  |  April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Presentation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96012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102412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Foundation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95528" y="140817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upon NewsBot 1.0 (97% accuracy midterm)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96012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96012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76088" y="102412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76088" y="140817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integrated modules, unified pipeline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196596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196596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6" name="Text 14"/>
          <p:cNvSpPr/>
          <p:nvPr/>
        </p:nvSpPr>
        <p:spPr>
          <a:xfrm>
            <a:off x="228600" y="196596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5528" y="202996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 — Content Analysis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95528" y="241401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+ NMF topic modeling, enhanced classification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196596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96596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96596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76088" y="202996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 — Language &amp; Generation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76088" y="241401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Summarization, semantic search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297180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297180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297180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95528" y="303580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 — Multilingual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5528" y="341985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12-language detection + translation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297180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297180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297180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276088" y="303580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 — Conversational AI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76088" y="341985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9-intent NL query interface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28600" y="397764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28600" y="397764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6" name="Text 34"/>
          <p:cNvSpPr/>
          <p:nvPr/>
        </p:nvSpPr>
        <p:spPr>
          <a:xfrm>
            <a:off x="228600" y="39776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95528" y="404164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Results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5528" y="442569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97.2% F1, demo walkthrough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709160" y="3977640"/>
            <a:ext cx="42062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977640"/>
            <a:ext cx="502920" cy="86868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1" name="Text 39"/>
          <p:cNvSpPr/>
          <p:nvPr/>
        </p:nvSpPr>
        <p:spPr>
          <a:xfrm>
            <a:off x="4709160" y="39776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276088" y="404164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&amp; Conclusions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276088" y="4425696"/>
            <a:ext cx="3520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ROI, use cases, future roadmap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Project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— From Midterm to Final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411480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4114800" cy="34747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1005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NewsBot 1.0 (Midterm)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" y="14447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Text preprocessing pipeline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8288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TF-IDF feature extraction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2212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POS tagging &amp; syntax parsing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" y="259689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VADER sentiment analysis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" y="29809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5-model classification (97% acc.)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" y="33649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spaCy Named Entity Recognition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2519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005840"/>
            <a:ext cx="4251960" cy="34747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1005840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NewsBot 2.0 (Final) — New Capabilities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0600" y="1444752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</a:t>
            </a:r>
            <a:r>
              <a:rPr lang="en-US" sz="11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LDA </a:t>
            </a: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NMF Topic Modeling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0600" y="1828800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</a:t>
            </a:r>
            <a:r>
              <a:rPr lang="en-US" sz="11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Extractive </a:t>
            </a: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Summarization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212848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</a:t>
            </a:r>
            <a:r>
              <a:rPr lang="en-US" sz="11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TF-IDF </a:t>
            </a: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Engine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968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</a:t>
            </a:r>
            <a:r>
              <a:rPr lang="en-US" sz="11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12-Language </a:t>
            </a: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Translation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980944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</a:t>
            </a:r>
            <a:r>
              <a:rPr lang="en-US" sz="11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9-Intent </a:t>
            </a: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Interface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0600" y="3364992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</a:t>
            </a:r>
            <a:r>
              <a:rPr lang="en-US" sz="11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Integrated </a:t>
            </a:r>
            <a:r>
              <a:rPr lang="en-US" sz="11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Facade Class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2340864"/>
            <a:ext cx="594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System Architecture — Modular Pipeline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37160" y="2194560"/>
            <a:ext cx="1143000" cy="77724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55448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📰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" y="219456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80160" y="2578608"/>
            <a:ext cx="10972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89888" y="2194560"/>
            <a:ext cx="1143000" cy="77724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9" name="Text 7"/>
          <p:cNvSpPr/>
          <p:nvPr/>
        </p:nvSpPr>
        <p:spPr>
          <a:xfrm>
            <a:off x="1389888" y="155448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89888" y="219456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32888" y="2578608"/>
            <a:ext cx="10972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2194560"/>
            <a:ext cx="1143000" cy="7772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55448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42616" y="219456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85616" y="2578608"/>
            <a:ext cx="10972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95344" y="2194560"/>
            <a:ext cx="1143000" cy="7772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7" name="Text 15"/>
          <p:cNvSpPr/>
          <p:nvPr/>
        </p:nvSpPr>
        <p:spPr>
          <a:xfrm>
            <a:off x="3895344" y="155448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895344" y="219456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38344" y="2578608"/>
            <a:ext cx="10972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48072" y="2194560"/>
            <a:ext cx="1143000" cy="7772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5148072" y="155448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48072" y="219456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91072" y="2578608"/>
            <a:ext cx="10972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2194560"/>
            <a:ext cx="11430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55448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00800" y="219456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43800" y="2578608"/>
            <a:ext cx="10972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53528" y="2194560"/>
            <a:ext cx="1143000" cy="7772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9" name="Text 27"/>
          <p:cNvSpPr/>
          <p:nvPr/>
        </p:nvSpPr>
        <p:spPr>
          <a:xfrm>
            <a:off x="7653528" y="155448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653528" y="219456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Dashboard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28600" y="3246120"/>
            <a:ext cx="2103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28600" y="3246120"/>
            <a:ext cx="2103120" cy="29260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3" name="Text 31"/>
          <p:cNvSpPr/>
          <p:nvPr/>
        </p:nvSpPr>
        <p:spPr>
          <a:xfrm>
            <a:off x="228600" y="3246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 — Analysis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" y="3575304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LDA topic modeling (10 topics)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NMF factorization (8 topics)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Enhanced LinearSVC classifier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spaCy NER extraction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68880" y="3246120"/>
            <a:ext cx="2103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468880" y="3246120"/>
            <a:ext cx="2103120" cy="29260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7" name="Text 35"/>
          <p:cNvSpPr/>
          <p:nvPr/>
        </p:nvSpPr>
        <p:spPr>
          <a:xfrm>
            <a:off x="2468880" y="3246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 — Language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560320" y="3575304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extractive summarizer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Positional bias weighting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Cosine similarity search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10,000-feature TF-IDF index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3246120"/>
            <a:ext cx="2103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246120"/>
            <a:ext cx="2103120" cy="29260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1" name="Text 39"/>
          <p:cNvSpPr/>
          <p:nvPr/>
        </p:nvSpPr>
        <p:spPr>
          <a:xfrm>
            <a:off x="4709160" y="3246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 — Multilingual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800600" y="3575304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langdetect (12 languages)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deep-translator API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Cross-lingual sentiment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 scoring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949440" y="3246120"/>
            <a:ext cx="2103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949440" y="3246120"/>
            <a:ext cx="2103120" cy="2926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/>
          <p:nvPr/>
        </p:nvSpPr>
        <p:spPr>
          <a:xfrm>
            <a:off x="6949440" y="3246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 — Conversational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040880" y="3575304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 intent types recognized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Pattern matching + rules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Conversation history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Handler routing system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Module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Advanced Content Analysis: Topic Modeling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41148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411480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9601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— Latent Dirichlet Allocation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" y="13533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discovers probabilistic latent topics in the corpus. Each document is modeled as a mixture of topics; each topic as a mixture of words.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7472" y="19019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LDA Topics: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7472" y="221284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(Business):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company market profit share quarter earn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472" y="2596896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(Politics):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259689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government minister parliament elect vote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7472" y="2980944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(Tech):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298094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software technology computer internet user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" y="336499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(Sport):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00200" y="336499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player team game season win match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" y="374904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 (Entertain):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00200" y="374904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film award music album actor star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" y="41148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10 topics | CountVectorizer | 5,000 features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5196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960120"/>
            <a:ext cx="425196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96012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NMF — Non-negative Matrix Factorization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135331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NMF decomposes the TF-IDF matrix into two non-negative matrices, producing sharper, more interpretable topics than LDA.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00600" y="1874520"/>
            <a:ext cx="3977640" cy="32918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18745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52160" y="18745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269480" y="18745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NMF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2221992"/>
            <a:ext cx="39776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222199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52160" y="222199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269480" y="222199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00600" y="2569464"/>
            <a:ext cx="3977640" cy="329184"/>
          </a:xfrm>
          <a:prstGeom prst="rect">
            <a:avLst/>
          </a:prstGeom>
          <a:solidFill>
            <a:srgbClr val="E8F5F5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256946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521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26948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00600" y="2916936"/>
            <a:ext cx="39776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4800600" y="29169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Vectorizer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91693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CountVectorizer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269480" y="291693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00600" y="3264408"/>
            <a:ext cx="3977640" cy="329184"/>
          </a:xfrm>
          <a:prstGeom prst="rect">
            <a:avLst/>
          </a:prstGeom>
          <a:solidFill>
            <a:srgbClr val="E8F5F5"/>
          </a:solidFill>
          <a:ln/>
        </p:spPr>
      </p:sp>
      <p:sp>
        <p:nvSpPr>
          <p:cNvPr id="41" name="Text 39"/>
          <p:cNvSpPr/>
          <p:nvPr/>
        </p:nvSpPr>
        <p:spPr>
          <a:xfrm>
            <a:off x="4800600" y="3264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264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269480" y="3264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NNDSVD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800600" y="3611880"/>
            <a:ext cx="39776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4800600" y="361188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852160" y="36118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mixtures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69480" y="36118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separation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800600" y="411480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8 topics | TF-IDF | NNDSVD init | 500 iterations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Module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Language Understanding &amp; Generation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416052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416052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96012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Extractive Summarizer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" y="1389888"/>
            <a:ext cx="868680" cy="34747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" y="1389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Tokenize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261872" y="140817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sentences via NLTK sent_tokenize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7472" y="1828800"/>
            <a:ext cx="868680" cy="34747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" y="1828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Score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261872" y="18470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word frequency applied to each sentence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7472" y="2267712"/>
            <a:ext cx="868680" cy="34747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" y="22677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Position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261872" y="22860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25% → ×1.3 | Last 25% → ×1.1 weight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7472" y="2706624"/>
            <a:ext cx="868680" cy="34747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270662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Penalty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261872" y="272491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sentences (&lt;8 words) → ×0.6 penalty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7472" y="3145536"/>
            <a:ext cx="868680" cy="347472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" y="3145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Select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261872" y="316382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sentences, re-sorted to original order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47472" y="3657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Compression Ratios by Category: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97280" y="3931920"/>
            <a:ext cx="0" cy="0"/>
          </a:xfrm>
          <a:prstGeom prst="rect">
            <a:avLst/>
          </a:prstGeom>
          <a:solidFill>
            <a:srgbClr val="14A08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97280" y="3931920"/>
            <a:ext cx="0" cy="0"/>
          </a:xfrm>
          <a:prstGeom prst="rect">
            <a:avLst/>
          </a:prstGeom>
          <a:solidFill>
            <a:srgbClr val="14A085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7280" y="3931920"/>
            <a:ext cx="0" cy="0"/>
          </a:xfrm>
          <a:prstGeom prst="rect">
            <a:avLst/>
          </a:prstGeom>
          <a:solidFill>
            <a:srgbClr val="14A085"/>
          </a:solidFill>
          <a:ln/>
        </p:spPr>
      </p:sp>
      <p:sp>
        <p:nvSpPr>
          <p:cNvPr id="26" name="Shape 24"/>
          <p:cNvSpPr/>
          <p:nvPr/>
        </p:nvSpPr>
        <p:spPr>
          <a:xfrm>
            <a:off x="1097280" y="3931920"/>
            <a:ext cx="0" cy="0"/>
          </a:xfrm>
          <a:prstGeom prst="rect">
            <a:avLst/>
          </a:prstGeom>
          <a:solidFill>
            <a:srgbClr val="14A085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7280" y="3931920"/>
            <a:ext cx="0" cy="0"/>
          </a:xfrm>
          <a:prstGeom prst="rect">
            <a:avLst/>
          </a:prstGeom>
          <a:solidFill>
            <a:srgbClr val="14A085"/>
          </a:solidFill>
          <a:ln/>
        </p:spPr>
      </p:sp>
      <p:sp>
        <p:nvSpPr>
          <p:cNvPr id="28" name="Text 26"/>
          <p:cNvSpPr/>
          <p:nvPr/>
        </p:nvSpPr>
        <p:spPr>
          <a:xfrm>
            <a:off x="274320" y="3931920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Business: 28.3%  |  Politics: 27.8%  |  Sport: 29.4%  |  Tech: 26.1%  |  Entertain: 31.2%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663440" y="822960"/>
            <a:ext cx="425196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960120"/>
            <a:ext cx="425196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96012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Engine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00600" y="1289304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cosine similarity search over the entire corpus. Supports optional category filtering for targeted retrieval.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00600" y="1764792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0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10,000 </a:t>
            </a: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features (unigrams + bigrams)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00600" y="2148840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0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000" dirty="0" err="1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Sublinear</a:t>
            </a:r>
            <a:r>
              <a:rPr lang="en-US" sz="10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weighting for better term scaling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00600" y="2532888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0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Cosine </a:t>
            </a: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ranking across 2,225+ documents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00600" y="291693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0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</a:t>
            </a: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preprocessor pipeline ensures query consistency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3300984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0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Category </a:t>
            </a: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restrict results to one news type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0600" y="3685032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</a:t>
            </a:r>
            <a:r>
              <a:rPr lang="en-US" sz="1000" dirty="0" smtClean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Returns</a:t>
            </a: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rank, score, category, text preview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63440" y="3959352"/>
            <a:ext cx="4251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"artificial intelligence machine learning" → tech articles ranked by relevance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Module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Multilingual Intelligence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508760" cy="77724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Text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(Any Language)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74520" y="114300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7377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057400" y="1005840"/>
            <a:ext cx="1508760" cy="77724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8" name="Text 6"/>
          <p:cNvSpPr/>
          <p:nvPr/>
        </p:nvSpPr>
        <p:spPr>
          <a:xfrm>
            <a:off x="2057400" y="10058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66160" y="114300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7377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749040" y="1005840"/>
            <a:ext cx="1508760" cy="7772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10058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English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57800" y="114300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7377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40680" y="1005840"/>
            <a:ext cx="150876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40680" y="10058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Analysis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(All Modules)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9440" y="114300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7377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32320" y="1005840"/>
            <a:ext cx="1508760" cy="777240"/>
          </a:xfrm>
          <a:prstGeom prst="rect">
            <a:avLst/>
          </a:prstGeom>
          <a:solidFill>
            <a:srgbClr val="14A085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0" y="10058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28600" y="1965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Languages (12)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2331720"/>
            <a:ext cx="987552" cy="402336"/>
          </a:xfrm>
          <a:prstGeom prst="rect">
            <a:avLst/>
          </a:prstGeom>
          <a:solidFill>
            <a:srgbClr val="E8F4FF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3317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🇬🇧 English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280160" y="2331720"/>
            <a:ext cx="987552" cy="402336"/>
          </a:xfrm>
          <a:prstGeom prst="rect">
            <a:avLst/>
          </a:prstGeom>
          <a:solidFill>
            <a:srgbClr val="E8F4FF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23317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🇪🇸 Spanish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331720" y="2331720"/>
            <a:ext cx="987552" cy="402336"/>
          </a:xfrm>
          <a:prstGeom prst="rect">
            <a:avLst/>
          </a:prstGeom>
          <a:solidFill>
            <a:srgbClr val="E8F4FF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31720" y="23317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🇫🇷 French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83280" y="2331720"/>
            <a:ext cx="987552" cy="402336"/>
          </a:xfrm>
          <a:prstGeom prst="rect">
            <a:avLst/>
          </a:prstGeom>
          <a:solidFill>
            <a:srgbClr val="E8F4FF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3317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🇩🇪 German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28600" y="2807208"/>
            <a:ext cx="987552" cy="402336"/>
          </a:xfrm>
          <a:prstGeom prst="rect">
            <a:avLst/>
          </a:prstGeom>
          <a:solidFill>
            <a:srgbClr val="E8F9F0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280720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🇮🇹 Italian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280160" y="2807208"/>
            <a:ext cx="987552" cy="402336"/>
          </a:xfrm>
          <a:prstGeom prst="rect">
            <a:avLst/>
          </a:prstGeom>
          <a:solidFill>
            <a:srgbClr val="E8F9F0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280720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Portuguese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331720" y="2807208"/>
            <a:ext cx="987552" cy="402336"/>
          </a:xfrm>
          <a:prstGeom prst="rect">
            <a:avLst/>
          </a:prstGeom>
          <a:solidFill>
            <a:srgbClr val="E8F9F0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280720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Chinese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383280" y="2807208"/>
            <a:ext cx="987552" cy="402336"/>
          </a:xfrm>
          <a:prstGeom prst="rect">
            <a:avLst/>
          </a:prstGeom>
          <a:solidFill>
            <a:srgbClr val="E8F9F0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280720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🇯🇵 Japanese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28600" y="3282696"/>
            <a:ext cx="987552" cy="402336"/>
          </a:xfrm>
          <a:prstGeom prst="rect">
            <a:avLst/>
          </a:prstGeom>
          <a:solidFill>
            <a:srgbClr val="FFF8E1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328269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🇰🇷 Korean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280160" y="3282696"/>
            <a:ext cx="987552" cy="402336"/>
          </a:xfrm>
          <a:prstGeom prst="rect">
            <a:avLst/>
          </a:prstGeom>
          <a:solidFill>
            <a:srgbClr val="FFF8E1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80160" y="328269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🇸🇦 Arabic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331720" y="3282696"/>
            <a:ext cx="987552" cy="402336"/>
          </a:xfrm>
          <a:prstGeom prst="rect">
            <a:avLst/>
          </a:prstGeom>
          <a:solidFill>
            <a:srgbClr val="FFF8E1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328269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🇷🇺 Russian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83280" y="3282696"/>
            <a:ext cx="987552" cy="402336"/>
          </a:xfrm>
          <a:prstGeom prst="rect">
            <a:avLst/>
          </a:prstGeom>
          <a:solidFill>
            <a:srgbClr val="FFF8E1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0" y="328269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🇳🇱 Dutch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1920240"/>
            <a:ext cx="42519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1920240"/>
            <a:ext cx="425196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5" name="Text 43"/>
          <p:cNvSpPr/>
          <p:nvPr/>
        </p:nvSpPr>
        <p:spPr>
          <a:xfrm>
            <a:off x="4663440" y="192024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Detection Demo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54880" y="2304288"/>
            <a:ext cx="4069080" cy="438912"/>
          </a:xfrm>
          <a:prstGeom prst="rect">
            <a:avLst/>
          </a:prstGeom>
          <a:solidFill>
            <a:srgbClr val="F0F9F0"/>
          </a:solidFill>
          <a:ln/>
        </p:spPr>
      </p:sp>
      <p:sp>
        <p:nvSpPr>
          <p:cNvPr id="47" name="Text 45"/>
          <p:cNvSpPr/>
          <p:nvPr/>
        </p:nvSpPr>
        <p:spPr>
          <a:xfrm>
            <a:off x="4800600" y="2322576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Spanish: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42432" y="23225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"El gobierno anunció..."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90688" y="2322576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conf: 0.99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54880" y="2807208"/>
            <a:ext cx="4069080" cy="438912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51" name="Text 49"/>
          <p:cNvSpPr/>
          <p:nvPr/>
        </p:nvSpPr>
        <p:spPr>
          <a:xfrm>
            <a:off x="4800600" y="2825496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French: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742432" y="28254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"L'équipe a remporté..."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790688" y="2825496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conf: 0.97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54880" y="3310128"/>
            <a:ext cx="4069080" cy="438912"/>
          </a:xfrm>
          <a:prstGeom prst="rect">
            <a:avLst/>
          </a:prstGeom>
          <a:solidFill>
            <a:srgbClr val="F0F9F0"/>
          </a:solidFill>
          <a:ln/>
        </p:spPr>
      </p:sp>
      <p:sp>
        <p:nvSpPr>
          <p:cNvPr id="55" name="Text 53"/>
          <p:cNvSpPr/>
          <p:nvPr/>
        </p:nvSpPr>
        <p:spPr>
          <a:xfrm>
            <a:off x="4800600" y="3328416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German: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742432" y="33284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"Die Unternehmen..."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90688" y="3328416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conf: 0.98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54880" y="3813048"/>
            <a:ext cx="4069080" cy="438912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59" name="Text 57"/>
          <p:cNvSpPr/>
          <p:nvPr/>
        </p:nvSpPr>
        <p:spPr>
          <a:xfrm>
            <a:off x="4800600" y="3831336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Portuguese: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742432" y="3831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F1A2E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"O mercado reagiu..."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790688" y="3831336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conf: 0.96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Module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Conversational Interface &amp; Intent Classification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2743200" cy="32918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9601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SEARCH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3441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"find articles about AI"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127248" y="960120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27248" y="960120"/>
            <a:ext cx="274320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0" name="Text 8"/>
          <p:cNvSpPr/>
          <p:nvPr/>
        </p:nvSpPr>
        <p:spPr>
          <a:xfrm>
            <a:off x="3127248" y="9601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SUMMARIZE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18688" y="13441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"summarize tech news"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25896" y="960120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25896" y="960120"/>
            <a:ext cx="2743200" cy="32918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4" name="Text 12"/>
          <p:cNvSpPr/>
          <p:nvPr/>
        </p:nvSpPr>
        <p:spPr>
          <a:xfrm>
            <a:off x="6025896" y="9601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 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SENTIMENT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17336" y="13441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"sentiment of politics"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2075688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075688"/>
            <a:ext cx="2743200" cy="32918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18" name="Text 16"/>
          <p:cNvSpPr/>
          <p:nvPr/>
        </p:nvSpPr>
        <p:spPr>
          <a:xfrm>
            <a:off x="228600" y="20756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" y="245973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"classify this article"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27248" y="2075688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27248" y="2075688"/>
            <a:ext cx="2743200" cy="32918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2" name="Text 20"/>
          <p:cNvSpPr/>
          <p:nvPr/>
        </p:nvSpPr>
        <p:spPr>
          <a:xfrm>
            <a:off x="3127248" y="20756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TOPICS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18688" y="245973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"show main topics"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25896" y="2075688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25896" y="2075688"/>
            <a:ext cx="2743200" cy="32918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6" name="Text 24"/>
          <p:cNvSpPr/>
          <p:nvPr/>
        </p:nvSpPr>
        <p:spPr>
          <a:xfrm>
            <a:off x="6025896" y="20756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17336" y="245973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"who is mentioned"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3191256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28600" y="3191256"/>
            <a:ext cx="2743200" cy="329184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0" name="Text 28"/>
          <p:cNvSpPr/>
          <p:nvPr/>
        </p:nvSpPr>
        <p:spPr>
          <a:xfrm>
            <a:off x="228600" y="31912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0040" y="357530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"translate to english"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127248" y="3191256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127248" y="3191256"/>
            <a:ext cx="2743200" cy="329184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4" name="Text 32"/>
          <p:cNvSpPr/>
          <p:nvPr/>
        </p:nvSpPr>
        <p:spPr>
          <a:xfrm>
            <a:off x="3127248" y="31912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18688" y="357530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"how many articles"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25896" y="3191256"/>
            <a:ext cx="2743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25896" y="3191256"/>
            <a:ext cx="2743200" cy="32918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8" name="Text 36"/>
          <p:cNvSpPr/>
          <p:nvPr/>
        </p:nvSpPr>
        <p:spPr>
          <a:xfrm>
            <a:off x="6025896" y="31912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17336" y="357530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"what can you do"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4370832"/>
            <a:ext cx="8686800" cy="50292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1" name="Text 39"/>
          <p:cNvSpPr/>
          <p:nvPr/>
        </p:nvSpPr>
        <p:spPr>
          <a:xfrm>
            <a:off x="320040" y="4407408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Pattern-matching keywords → confidence scoring → handler routing → module integration → natural language response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Performance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Model Evaluation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0058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97.2%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15727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F1 Score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04872" y="96012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0058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2,225+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04872" y="15727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in Dataset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81144" y="96012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81144" y="10058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10/8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81144" y="15727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LDA/NMF Topics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57416" y="96012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57416" y="10058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757416" y="15727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Compression Ratio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2103120"/>
            <a:ext cx="41605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103120"/>
            <a:ext cx="416052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8" name="Text 16"/>
          <p:cNvSpPr/>
          <p:nvPr/>
        </p:nvSpPr>
        <p:spPr>
          <a:xfrm>
            <a:off x="228600" y="210312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Model Comparison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8600" y="2487168"/>
            <a:ext cx="41605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24871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06040" y="2487168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566160" y="2487168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2816352"/>
            <a:ext cx="4160520" cy="310896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281635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SVC ⭐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606040" y="2816352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~97.2%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566160" y="2816352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0.972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145536"/>
            <a:ext cx="4160520" cy="31089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" y="3145536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606040" y="3145536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~96.1%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66160" y="3145536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3474720"/>
            <a:ext cx="416052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" y="347472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606040" y="34747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~95.4%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66160" y="347472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0.954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3803904"/>
            <a:ext cx="4160520" cy="31089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803904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606040" y="3803904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~92.3%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566160" y="3803904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0.921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4133088"/>
            <a:ext cx="416052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320040" y="413308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606040" y="4133088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~88.4%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566160" y="4133088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0.882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63440" y="2103120"/>
            <a:ext cx="425196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2103120"/>
            <a:ext cx="425196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5" name="Text 43"/>
          <p:cNvSpPr/>
          <p:nvPr/>
        </p:nvSpPr>
        <p:spPr>
          <a:xfrm>
            <a:off x="4663440" y="210312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Modeling Quality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663440" y="2487168"/>
            <a:ext cx="425196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7" name="Text 45"/>
          <p:cNvSpPr/>
          <p:nvPr/>
        </p:nvSpPr>
        <p:spPr>
          <a:xfrm>
            <a:off x="4754880" y="2487168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72200" y="2487168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406640" y="2487168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NMF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16352"/>
            <a:ext cx="42519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754880" y="2816352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172200" y="2816352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406640" y="2816352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663440" y="3145536"/>
            <a:ext cx="4251960" cy="31089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Text 53"/>
          <p:cNvSpPr/>
          <p:nvPr/>
        </p:nvSpPr>
        <p:spPr>
          <a:xfrm>
            <a:off x="4754880" y="3145536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172200" y="3145536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= better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06640" y="3145536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663440" y="3474720"/>
            <a:ext cx="42519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4754880" y="347472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Coherence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172200" y="347472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406640" y="347472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663440" y="3803904"/>
            <a:ext cx="4251960" cy="31089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3" name="Text 61"/>
          <p:cNvSpPr/>
          <p:nvPr/>
        </p:nvSpPr>
        <p:spPr>
          <a:xfrm>
            <a:off x="4754880" y="3803904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Category-Topic Align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72200" y="3803904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406640" y="3803904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663440" y="4133088"/>
            <a:ext cx="42519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4754880" y="4133088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 Speed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6172200" y="4133088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406640" y="4133088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&amp; ROI Analysis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86868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102412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</a:t>
            </a:r>
            <a:r>
              <a:rPr lang="en-US" sz="1600" b="1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Cost Savings: 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49240" y="102412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$150,500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28600" y="1965960"/>
            <a:ext cx="20116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1965960"/>
            <a:ext cx="2011680" cy="329184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" y="19659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 Media Monitoring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" y="2350008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Auto-classify 10,000+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articles/hour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04872" y="1965960"/>
            <a:ext cx="20116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04872" y="1965960"/>
            <a:ext cx="201168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3" name="Text 11"/>
          <p:cNvSpPr/>
          <p:nvPr/>
        </p:nvSpPr>
        <p:spPr>
          <a:xfrm>
            <a:off x="2404872" y="19659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Brand Intelligence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496312" y="2350008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company sentiment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categories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1144" y="1965960"/>
            <a:ext cx="20116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81144" y="1965960"/>
            <a:ext cx="2011680" cy="32918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7" name="Text 15"/>
          <p:cNvSpPr/>
          <p:nvPr/>
        </p:nvSpPr>
        <p:spPr>
          <a:xfrm>
            <a:off x="4581144" y="19659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Global News Aggregation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72584" y="2350008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12-language analysis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translators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57416" y="1965960"/>
            <a:ext cx="20116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57416" y="1965960"/>
            <a:ext cx="2011680" cy="329184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1" name="Text 19"/>
          <p:cNvSpPr/>
          <p:nvPr/>
        </p:nvSpPr>
        <p:spPr>
          <a:xfrm>
            <a:off x="6757416" y="19659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CMS Automation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848856" y="2350008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Auto-tag, categorize,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summarize content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3657600"/>
            <a:ext cx="8686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28600" y="3657600"/>
            <a:ext cx="868680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5" name="Text 23"/>
          <p:cNvSpPr/>
          <p:nvPr/>
        </p:nvSpPr>
        <p:spPr>
          <a:xfrm>
            <a:off x="228600" y="365760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NewsBot 2.0 vs Competitors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" y="4041648"/>
            <a:ext cx="90297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Open Source  |  ✅ 97.2% Accuracy  |  ✅ 12 Languages  |  ✅ Topic Modeling  |  ✅ Conversational AI  |  ✅ Full Customization  |  ✅ Zero Licensing Cost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 </a:t>
            </a:r>
            <a:r>
              <a:rPr lang="en-US" sz="2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System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Live Analysis Walkthrough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416052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416052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96012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Steps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" y="1389888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" y="1389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399032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Dataset: 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83080" y="1399032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BBC News (~2,225 articles) from HuggingFace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1783080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" y="178308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9808" y="1792224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Preprocess: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83080" y="179222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vocabulary reduction in ~3 seconds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2176272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" y="217627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49808" y="2185416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Model: 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783080" y="2185416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achieves 97.2% F1 on test set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472" y="2569464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" y="256946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9808" y="257860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Modeling: 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83080" y="2578608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discovers 10 latent topics across corpus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47472" y="2962656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2962656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9808" y="2971800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Summarize: 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783080" y="2971800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400-word article → 3 key sentences (28%)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47472" y="3355848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8" name="Text 26"/>
          <p:cNvSpPr/>
          <p:nvPr/>
        </p:nvSpPr>
        <p:spPr>
          <a:xfrm>
            <a:off x="347472" y="335584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" y="3364992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783080" y="3364992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'AI machine learning' → ranked results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472" y="3749040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2" name="Text 30"/>
          <p:cNvSpPr/>
          <p:nvPr/>
        </p:nvSpPr>
        <p:spPr>
          <a:xfrm>
            <a:off x="347472" y="37490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49808" y="3758184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Multilingual: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783080" y="375818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 article → detect → translate → analyze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47472" y="4142232"/>
            <a:ext cx="347472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6" name="Text 34"/>
          <p:cNvSpPr/>
          <p:nvPr/>
        </p:nvSpPr>
        <p:spPr>
          <a:xfrm>
            <a:off x="347472" y="414223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9808" y="4151376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Converse: 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783080" y="4151376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language: 'find positive tech news'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63440" y="960120"/>
            <a:ext cx="425196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960120"/>
            <a:ext cx="4251960" cy="329184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96012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Analysis Output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09160" y="1353312"/>
            <a:ext cx="4160520" cy="3108960"/>
          </a:xfrm>
          <a:prstGeom prst="rect">
            <a:avLst/>
          </a:prstGeom>
          <a:solidFill>
            <a:srgbClr val="0F1A2E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0" y="138988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0A500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═══ NewsBot 2.0 — Analysis Report ═══</a:t>
            </a:r>
            <a:endParaRPr lang="en-US" sz="780" dirty="0"/>
          </a:p>
        </p:txBody>
      </p:sp>
      <p:sp>
        <p:nvSpPr>
          <p:cNvPr id="44" name="Text 42"/>
          <p:cNvSpPr/>
          <p:nvPr/>
        </p:nvSpPr>
        <p:spPr>
          <a:xfrm>
            <a:off x="4754880" y="159562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4754880" y="180136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FFFFF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🏷️  Category : TECHNOLOGY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4754880" y="200710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FFFFF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🌍 Language : English (conf: 0.99)</a:t>
            </a:r>
            <a:endParaRPr lang="en-US" sz="780" dirty="0"/>
          </a:p>
        </p:txBody>
      </p:sp>
      <p:sp>
        <p:nvSpPr>
          <p:cNvPr id="47" name="Text 45"/>
          <p:cNvSpPr/>
          <p:nvPr/>
        </p:nvSpPr>
        <p:spPr>
          <a:xfrm>
            <a:off x="4754880" y="221284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FFFFF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😊 Sentiment: Positive (+0.481)</a:t>
            </a:r>
            <a:endParaRPr lang="en-US" sz="780" dirty="0"/>
          </a:p>
        </p:txBody>
      </p:sp>
      <p:sp>
        <p:nvSpPr>
          <p:cNvPr id="48" name="Text 46"/>
          <p:cNvSpPr/>
          <p:nvPr/>
        </p:nvSpPr>
        <p:spPr>
          <a:xfrm>
            <a:off x="4754880" y="241858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4754880" y="262432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FFFFF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📝 Summary (412w → 118w, 28%):</a:t>
            </a:r>
            <a:endParaRPr lang="en-US" sz="780" dirty="0"/>
          </a:p>
        </p:txBody>
      </p:sp>
      <p:sp>
        <p:nvSpPr>
          <p:cNvPr id="50" name="Text 48"/>
          <p:cNvSpPr/>
          <p:nvPr/>
        </p:nvSpPr>
        <p:spPr>
          <a:xfrm>
            <a:off x="4754880" y="283006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FFFFF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  Scientists at MIT achieved a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4754880" y="303580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FFFFF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  breakthrough in quantum computing...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4754880" y="324154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780" dirty="0"/>
          </a:p>
        </p:txBody>
      </p:sp>
      <p:sp>
        <p:nvSpPr>
          <p:cNvPr id="53" name="Text 51"/>
          <p:cNvSpPr/>
          <p:nvPr/>
        </p:nvSpPr>
        <p:spPr>
          <a:xfrm>
            <a:off x="4754880" y="344728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FFFFF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🏷️  Entities (4 found):</a:t>
            </a:r>
            <a:endParaRPr lang="en-US" sz="780" dirty="0"/>
          </a:p>
        </p:txBody>
      </p:sp>
      <p:sp>
        <p:nvSpPr>
          <p:cNvPr id="54" name="Text 52"/>
          <p:cNvSpPr/>
          <p:nvPr/>
        </p:nvSpPr>
        <p:spPr>
          <a:xfrm>
            <a:off x="4754880" y="365302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CADC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  • MIT [ORG]  • Stanford [ORG]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4754880" y="385876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CADC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  • Nature [ORG]  • Google [ORG]</a:t>
            </a:r>
            <a:endParaRPr lang="en-US" sz="780" dirty="0"/>
          </a:p>
        </p:txBody>
      </p:sp>
      <p:sp>
        <p:nvSpPr>
          <p:cNvPr id="56" name="Text 54"/>
          <p:cNvSpPr/>
          <p:nvPr/>
        </p:nvSpPr>
        <p:spPr>
          <a:xfrm>
            <a:off x="4754880" y="406450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F0A500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════════════════════════════════════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🏁  </a:t>
            </a:r>
            <a:r>
              <a:rPr lang="en-US" sz="24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Conclusions 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Future Roadmap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43000"/>
            <a:ext cx="4160520" cy="1920240"/>
          </a:xfrm>
          <a:prstGeom prst="rect">
            <a:avLst/>
          </a:prstGeom>
          <a:solidFill>
            <a:srgbClr val="1A3A2A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07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What We Achieved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" y="166420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DF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Production-quality NLP platform (97.2% accuracy)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47472" y="193852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DF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 fully integrated advanced modules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" y="221284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DF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2,225+ articles processed end-to-end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472" y="2487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DF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12-language multilingual support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7472" y="27614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DF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Natural language query interface (9 intents)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251960" cy="1920240"/>
          </a:xfrm>
          <a:prstGeom prst="rect">
            <a:avLst/>
          </a:prstGeom>
          <a:solidFill>
            <a:srgbClr val="1A1A3A"/>
          </a:solidFill>
          <a:ln w="6350">
            <a:solidFill>
              <a:srgbClr val="D1E7E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20700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🔭 </a:t>
            </a:r>
            <a:r>
              <a:rPr lang="en-US" sz="1300" b="1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(Roadmap)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73168" y="166420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BERT fine-tuning for 98%+ classification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3168" y="193852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Abstractive summarization (HuggingFace T5)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73168" y="221284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Flask web dashboard (30pt bonus target)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73168" y="248716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Real-time RSS/NewsAPI integration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73168" y="276148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Bias detection &amp; explainability module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" y="3246120"/>
            <a:ext cx="86868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282696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Portfolio Value: Demonstrates end-to-end NLP engineering — topic modeling, summarization, multilingual AI, and conversational systems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8600" y="3977640"/>
            <a:ext cx="8686800" cy="502920"/>
          </a:xfrm>
          <a:prstGeom prst="rect">
            <a:avLst/>
          </a:prstGeom>
          <a:solidFill>
            <a:srgbClr val="0D1120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4005072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</a:t>
            </a:r>
            <a:r>
              <a:rPr lang="en-US" sz="10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r>
              <a:rPr lang="en-US" sz="10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github.com/Huynguyen-175/ITAI2373-NewsBot2.0-Final  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 ITAI 2373 — Spring 2026   |   Huy Nguyen (Solo)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0" y="4544568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1377</Words>
  <Application>Microsoft Office PowerPoint</Application>
  <PresentationFormat>On-screen Show (16:9)</PresentationFormat>
  <Paragraphs>349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NewsBot Intelligence System 2.0</dc:title>
  <dc:subject>ITAI 2373 Final Project Presentation</dc:subject>
  <dc:creator>Huy Nguyen</dc:creator>
  <cp:lastModifiedBy>User</cp:lastModifiedBy>
  <cp:revision>4</cp:revision>
  <dcterms:created xsi:type="dcterms:W3CDTF">2026-04-28T19:46:41Z</dcterms:created>
  <dcterms:modified xsi:type="dcterms:W3CDTF">2026-04-28T21:28:54Z</dcterms:modified>
</cp:coreProperties>
</file>