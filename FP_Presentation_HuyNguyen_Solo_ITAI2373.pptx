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-45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11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000000"/>
                </a:solidFill>
              </a:rPr>
              <a:t>🤖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Integration &amp; Analysis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84124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240280"/>
            <a:ext cx="201168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A: Topic Modeling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2240280"/>
            <a:ext cx="2011680" cy="384048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B: Summarization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2011680" cy="384048"/>
          </a:xfrm>
          <a:prstGeom prst="rect">
            <a:avLst/>
          </a:prstGeom>
          <a:solidFill>
            <a:srgbClr val="0D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C: Multilingual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2240280"/>
            <a:ext cx="2011680" cy="384048"/>
          </a:xfrm>
          <a:prstGeom prst="rect">
            <a:avLst/>
          </a:prstGeom>
          <a:solidFill>
            <a:srgbClr val="1A5E35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2240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D: Conversational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Nguyen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ITAI 2373 — NLP  |  HCC Spring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474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upon: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1.0 Midterm Foundation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45262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|  Solo Submission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Presentation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10241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Foundation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" y="140817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upon NewsBot 1.0 (97% accuracy midterm)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96012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76088" y="10241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76088" y="140817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integrated modules, unified pipeline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65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96596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19659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" y="20299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Content Analysis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5528" y="241401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+ NMF topic modeling, enhanced classification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6596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9659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76088" y="20299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— Language &amp; Generation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76088" y="241401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Summarization, semantic search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97180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7180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29718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95528" y="303580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— Multilingual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95528" y="341985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12-language detection + translation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7180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7180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29718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76088" y="303580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 — Conversational AI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76088" y="341985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9-intent NL query interface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97764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97764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3977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5528" y="40416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Results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5528" y="442569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 F1, demo walkthrough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97764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977640"/>
            <a:ext cx="502920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9776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276088" y="404164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Conclusions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76088" y="442569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use cases, future roadmap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Project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From Midterm to Final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411480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1.0 (Midterm)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444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Text preprocessing pipeline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TF-IDF feature extraction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212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 tagging &amp; syntax parsing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5968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VADER sentiment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980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5-model classification (97% acc.)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33649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spaCy Named Entity Recognition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519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5196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058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2.0 (Final) — New Capabilities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4447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</a:t>
            </a:r>
            <a:r>
              <a:rPr lang="en-US" sz="11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LDA </a:t>
            </a: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NMF Topic Modeling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8288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</a:t>
            </a:r>
            <a:r>
              <a:rPr lang="en-US" sz="11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Extractive </a:t>
            </a: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2128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r>
              <a:rPr lang="en-US" sz="11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TF-IDF </a:t>
            </a: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5968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r>
              <a:rPr lang="en-US" sz="11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12-Language </a:t>
            </a: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Translation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8094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r>
              <a:rPr lang="en-US" sz="11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9-Intent </a:t>
            </a: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36499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r>
              <a:rPr lang="en-US" sz="11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Integrated </a:t>
            </a:r>
            <a:r>
              <a:rPr lang="en-US" sz="11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Facade 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2340864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 Architecture — Modular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2194560"/>
            <a:ext cx="1143000" cy="7772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5544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21945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80160" y="257860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9888" y="2194560"/>
            <a:ext cx="1143000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1389888" y="15544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21945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32888" y="257860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2194560"/>
            <a:ext cx="1143000" cy="7772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15544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42616" y="21945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85616" y="257860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95344" y="2194560"/>
            <a:ext cx="1143000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895344" y="15544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95344" y="21945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38344" y="257860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8072" y="2194560"/>
            <a:ext cx="1143000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5148072" y="15544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48072" y="21945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91072" y="257860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194560"/>
            <a:ext cx="1143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5544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0800" y="21945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43800" y="2578608"/>
            <a:ext cx="10972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53528" y="2194560"/>
            <a:ext cx="1143000" cy="7772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7653528" y="1554480"/>
            <a:ext cx="1143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53528" y="21945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Dashboard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246120"/>
            <a:ext cx="2103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246120"/>
            <a:ext cx="2103120" cy="2926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228600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Analysis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" y="3575304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LDA topic modeling (10 topics)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NMF factorization (8 topics)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Enhanced LinearSVC classifier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spaCy NER extraction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68880" y="3246120"/>
            <a:ext cx="2103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68880" y="3246120"/>
            <a:ext cx="2103120" cy="2926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2468880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— Language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60320" y="3575304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extractive summarizer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Positional bias weighting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Cosine similarity search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10,000-feature TF-IDF index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246120"/>
            <a:ext cx="2103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246120"/>
            <a:ext cx="210312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— Multilingual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0600" y="3575304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langdetect (12 languages)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deep-translator API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Cross-lingual sentiment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scoring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949440" y="3246120"/>
            <a:ext cx="21031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949440" y="3246120"/>
            <a:ext cx="210312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 — Conversational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40880" y="3575304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intent types recognized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Pattern matching + rules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 history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Handler routing system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Module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Advanced Content Analysis: Topic Modeling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— Latent Dirichlet Allocation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3533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discovers probabilistic latent topics in the corpus. Each document is modeled as a mixture of topics; each topic as a mixture of words.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901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LDA Topics: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2128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(Business):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2212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company market profit share quarter earn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59689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(Politics):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259689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government minister parliament elect vote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98094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(Tech):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98094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software technology computer internet user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33649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(Sport):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3364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player team game season win match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(Entertain):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3749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film award music album actor star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4114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topics | CountVectorizer | 5,000 features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519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60120"/>
            <a:ext cx="4251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9601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— Non-negative Matrix Factorization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135331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decomposes the TF-IDF matrix into two non-negative matrices, producing sharper, more interpretable topics than LDA.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874520"/>
            <a:ext cx="3977640" cy="32918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8745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52160" y="1874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69480" y="18745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221992"/>
            <a:ext cx="3977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2219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52160" y="22219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69480" y="22219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569464"/>
            <a:ext cx="3977640" cy="329184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256946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52160" y="25694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69480" y="25694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916936"/>
            <a:ext cx="3977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9169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2916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9480" y="2916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264408"/>
            <a:ext cx="3977640" cy="329184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2644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52160" y="32644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69480" y="32644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NNDSVD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611880"/>
            <a:ext cx="39776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6118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52160" y="36118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mixtures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69480" y="36118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separation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00600" y="411480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 topics | TF-IDF | NNDSVD init | 500 iterations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Module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Language Understanding &amp; Generation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Extractive Summarizer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8686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89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Tokenize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61872" y="14081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sentences via NLTK sent_tokenize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828800"/>
            <a:ext cx="8686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82880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61872" y="18470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word frequency applied to each sentence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267712"/>
            <a:ext cx="8686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26771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Position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61872" y="22860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25% → ×1.3 | Last 25% → ×1.1 weight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706624"/>
            <a:ext cx="8686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7066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Penalty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61872" y="27249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 (&lt;8 words) → ×0.6 penalty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145536"/>
            <a:ext cx="86868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14553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Select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61872" y="316382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sentences, re-sorted to original order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3657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Compression Ratios by Category: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7280" y="3931920"/>
            <a:ext cx="0" cy="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3931920"/>
            <a:ext cx="0" cy="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7280" y="3931920"/>
            <a:ext cx="0" cy="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" y="3931920"/>
            <a:ext cx="0" cy="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3931920"/>
            <a:ext cx="0" cy="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93192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28.3%  |  Politics: 27.8%  |  Sport: 29.4%  |  Tech: 26.1%  |  Entertain: 31.2%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822960"/>
            <a:ext cx="42519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960120"/>
            <a:ext cx="4251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9601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1289304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search over the entire corpus. Supports optional category filtering for targeted retrieval.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176479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0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10,000 </a:t>
            </a: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 (unigrams + bigrams)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21488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0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dirty="0" err="1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</a:t>
            </a:r>
            <a:r>
              <a:rPr lang="en-US" sz="10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weighting for better term scaling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53288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0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Cosine </a:t>
            </a: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ranking across 2,225+ documents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29169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0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 </a:t>
            </a: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pipeline ensures query consistency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330098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0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Category </a:t>
            </a: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restrict results to one news type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6850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</a:t>
            </a:r>
            <a:r>
              <a:rPr lang="en-US" sz="1000" dirty="0" smtClean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Returns</a:t>
            </a: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rank, score, category, text preview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95935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"artificial intelligence machine learning" → tech articles ranked by relevance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Module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Multilingual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508760" cy="7772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Language)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74520" y="114300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1005840"/>
            <a:ext cx="1508760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005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14300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49040" y="1005840"/>
            <a:ext cx="1508760" cy="7772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005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English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57800" y="114300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40680" y="1005840"/>
            <a:ext cx="15087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005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Modules)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114300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0" y="1005840"/>
            <a:ext cx="1508760" cy="77724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005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Languages (12)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987552" cy="402336"/>
          </a:xfrm>
          <a:prstGeom prst="rect">
            <a:avLst/>
          </a:prstGeom>
          <a:solidFill>
            <a:srgbClr val="E8F4FF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331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English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2331720"/>
            <a:ext cx="987552" cy="402336"/>
          </a:xfrm>
          <a:prstGeom prst="rect">
            <a:avLst/>
          </a:prstGeom>
          <a:solidFill>
            <a:srgbClr val="E8F4FF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2331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Spanish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31720" y="2331720"/>
            <a:ext cx="987552" cy="402336"/>
          </a:xfrm>
          <a:prstGeom prst="rect">
            <a:avLst/>
          </a:prstGeom>
          <a:solidFill>
            <a:srgbClr val="E8F4FF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1720" y="2331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French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331720"/>
            <a:ext cx="987552" cy="402336"/>
          </a:xfrm>
          <a:prstGeom prst="rect">
            <a:avLst/>
          </a:prstGeom>
          <a:solidFill>
            <a:srgbClr val="E8F4FF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331720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German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807208"/>
            <a:ext cx="987552" cy="402336"/>
          </a:xfrm>
          <a:prstGeom prst="rect">
            <a:avLst/>
          </a:prstGeom>
          <a:solidFill>
            <a:srgbClr val="E8F9F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80720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🇮🇹 Italian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0" y="2807208"/>
            <a:ext cx="987552" cy="402336"/>
          </a:xfrm>
          <a:prstGeom prst="rect">
            <a:avLst/>
          </a:prstGeom>
          <a:solidFill>
            <a:srgbClr val="E8F9F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280720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🇵🇹 Portuguese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31720" y="2807208"/>
            <a:ext cx="987552" cy="402336"/>
          </a:xfrm>
          <a:prstGeom prst="rect">
            <a:avLst/>
          </a:prstGeom>
          <a:solidFill>
            <a:srgbClr val="E8F9F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280720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Chinese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2807208"/>
            <a:ext cx="987552" cy="402336"/>
          </a:xfrm>
          <a:prstGeom prst="rect">
            <a:avLst/>
          </a:prstGeom>
          <a:solidFill>
            <a:srgbClr val="E8F9F0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80720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🇯🇵 Japanese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282696"/>
            <a:ext cx="987552" cy="402336"/>
          </a:xfrm>
          <a:prstGeom prst="rect">
            <a:avLst/>
          </a:prstGeom>
          <a:solidFill>
            <a:srgbClr val="FFF8E1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28269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Korean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80160" y="3282696"/>
            <a:ext cx="987552" cy="402336"/>
          </a:xfrm>
          <a:prstGeom prst="rect">
            <a:avLst/>
          </a:prstGeom>
          <a:solidFill>
            <a:srgbClr val="FFF8E1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328269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Arabic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31720" y="3282696"/>
            <a:ext cx="987552" cy="402336"/>
          </a:xfrm>
          <a:prstGeom prst="rect">
            <a:avLst/>
          </a:prstGeom>
          <a:solidFill>
            <a:srgbClr val="FFF8E1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328269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🇷🇺 Russian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3282696"/>
            <a:ext cx="987552" cy="402336"/>
          </a:xfrm>
          <a:prstGeom prst="rect">
            <a:avLst/>
          </a:prstGeom>
          <a:solidFill>
            <a:srgbClr val="FFF8E1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282696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🇳🇱 Dutch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1920240"/>
            <a:ext cx="4251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1920240"/>
            <a:ext cx="4251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192024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Demo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304288"/>
            <a:ext cx="4069080" cy="438912"/>
          </a:xfrm>
          <a:prstGeom prst="rect">
            <a:avLst/>
          </a:prstGeom>
          <a:solidFill>
            <a:srgbClr val="F0F9F0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23225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42432" y="23225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"El gobierno anunció..."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790688" y="232257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0.99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2807208"/>
            <a:ext cx="4069080" cy="43891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28254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42432" y="282549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"L'équipe a remporté..."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790688" y="282549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0.97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310128"/>
            <a:ext cx="4069080" cy="438912"/>
          </a:xfrm>
          <a:prstGeom prst="rect">
            <a:avLst/>
          </a:prstGeom>
          <a:solidFill>
            <a:srgbClr val="F0F9F0"/>
          </a:solidFill>
          <a:ln/>
        </p:spPr>
      </p:sp>
      <p:sp>
        <p:nvSpPr>
          <p:cNvPr id="55" name="Text 53"/>
          <p:cNvSpPr/>
          <p:nvPr/>
        </p:nvSpPr>
        <p:spPr>
          <a:xfrm>
            <a:off x="4800600" y="33284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742432" y="33284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"Die Unternehmen..."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790688" y="332841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0.98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54880" y="3813048"/>
            <a:ext cx="4069080" cy="438912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9" name="Text 57"/>
          <p:cNvSpPr/>
          <p:nvPr/>
        </p:nvSpPr>
        <p:spPr>
          <a:xfrm>
            <a:off x="4800600" y="38313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742432" y="3831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F1A2E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"O mercado reagiu..."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790688" y="3831336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0.96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Module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Conversational Interface &amp; Intent Classification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32918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44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"find articles about AI"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27248" y="96012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27248" y="960120"/>
            <a:ext cx="274320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3127248" y="960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SUMMARIZE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1344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"summarize tech news"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960120"/>
            <a:ext cx="2743200" cy="32918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896" y="960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SENTIMENT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17336" y="13441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"sentiment of politics"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075688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075688"/>
            <a:ext cx="2743200" cy="32918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075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  CLASSIFY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4597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"classify this article"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27248" y="2075688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2075688"/>
            <a:ext cx="2743200" cy="32918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2075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TOPICS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18688" y="24597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"show main topics"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2075688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2075688"/>
            <a:ext cx="2743200" cy="32918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6025896" y="2075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17336" y="24597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"who is mentioned"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3191256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191256"/>
            <a:ext cx="2743200" cy="32918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31912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3575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"translate to english"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27248" y="3191256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27248" y="3191256"/>
            <a:ext cx="2743200" cy="32918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3127248" y="31912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18688" y="3575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"how many articles"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25896" y="3191256"/>
            <a:ext cx="2743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25896" y="3191256"/>
            <a:ext cx="2743200" cy="32918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6025896" y="31912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17336" y="3575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"what can you do"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4370832"/>
            <a:ext cx="86868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40740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Pattern-matching keywords → confidence scoring → handler routing → module integration → natural language response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Performance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F1 Score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04872" y="96012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04872" y="10058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2,225+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04872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in 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81144" y="96012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1144" y="10058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81144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LDA/NMF Topics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57416" y="960120"/>
            <a:ext cx="2011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57416" y="10058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57416" y="15727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Compression Ratio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10312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03120"/>
            <a:ext cx="416052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21031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 Comparison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487168"/>
            <a:ext cx="41605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4871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48716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6160" y="2487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816352"/>
            <a:ext cx="416052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8163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SVC 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06040" y="281635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~97.2%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66160" y="281635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145536"/>
            <a:ext cx="4160520" cy="3108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1455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06040" y="314553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~96.1%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314553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3474720"/>
            <a:ext cx="4160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4747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06040" y="34747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~95.4%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34747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803904"/>
            <a:ext cx="4160520" cy="3108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8039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06040" y="38039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~92.3%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66160" y="380390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4133088"/>
            <a:ext cx="41605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1330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06040" y="41330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~88.4%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566160" y="41330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103120"/>
            <a:ext cx="4251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2103120"/>
            <a:ext cx="4251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21031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Quality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487168"/>
            <a:ext cx="4251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4754880" y="24871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72200" y="24871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0" y="24871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2816352"/>
            <a:ext cx="4251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2816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72200" y="281635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406640" y="281635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3145536"/>
            <a:ext cx="4251960" cy="3108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31455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72200" y="314553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314553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3474720"/>
            <a:ext cx="4251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754880" y="347472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Coherence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72200" y="34747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406640" y="34747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63440" y="3803904"/>
            <a:ext cx="4251960" cy="31089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3" name="Text 61"/>
          <p:cNvSpPr/>
          <p:nvPr/>
        </p:nvSpPr>
        <p:spPr>
          <a:xfrm>
            <a:off x="4754880" y="3803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Category-Topic Align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172200" y="380390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406640" y="380390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663440" y="4133088"/>
            <a:ext cx="42519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754880" y="41330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Speed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172200" y="413308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406640" y="413308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ROI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2412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</a:t>
            </a:r>
            <a:r>
              <a:rPr lang="en-US" sz="1600" b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Cost Savings: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49240" y="1024128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$150,500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96596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965960"/>
            <a:ext cx="2011680" cy="32918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965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Media Monitoring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35000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10,000+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articles/hour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04872" y="196596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965960"/>
            <a:ext cx="201168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1965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Brand Intelligence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96312" y="235000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company sentiment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196596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965960"/>
            <a:ext cx="2011680" cy="32918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581144" y="1965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Global News Aggregation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72584" y="235000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12-language 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translators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416" y="196596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57416" y="1965960"/>
            <a:ext cx="2011680" cy="32918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757416" y="1965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CMS Automation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48856" y="2350008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Auto-tag, categorize,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summarize content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8686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657600"/>
            <a:ext cx="868680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36576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2.0 vs Competitors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" y="4041648"/>
            <a:ext cx="90297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 Source  |  ✅ 97.2% Accuracy  |  ✅ 12 Languages  |  ✅ Topic Modeling  |  ✅ Conversational AI  |  ✅ Full Customization  |  ✅ Zero Licensing Cost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System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Live Analysis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Steps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38988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39903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Dataset: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39903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 News (~2,225 articles) from HuggingFace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783080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78308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79222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Preprocess: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179222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vocabulary reduction in ~3 seconds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176272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762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218541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Model: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218541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achieves 97.2% F1 on test set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569464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56946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257860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Modeling: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257860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discovers 10 latent topics across corpus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2962656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29626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297180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Summarize: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83080" y="297180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400-word article → 3 key sentences (28%)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355848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35584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336499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336499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'AI machine learning' → ranked results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3749040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37490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" y="375818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Multilingual: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83080" y="3758184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article → detect → translate → analyze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4142232"/>
            <a:ext cx="347472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1422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15137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Converse: 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83080" y="41513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language: 'find positive tech news'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960120"/>
            <a:ext cx="42519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960120"/>
            <a:ext cx="4251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9601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Analysis Output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1353312"/>
            <a:ext cx="4160520" cy="310896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138988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A5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═══ NewsBot 2.0 — Analysis Report ═══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4754880" y="159562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754880" y="180136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🏷️  Category : TECHNOLOGY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754880" y="200710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🌍 Language : English (conf: 0.99)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754880" y="221284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😊 Sentiment: Positive (+0.481)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754880" y="241858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4754880" y="262432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📝 Summary (412w → 118w, 28%):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4754880" y="283006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Scientists at MIT achieved a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754880" y="303580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breakthrough in quantum computing...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4754880" y="324154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4754880" y="344728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 smtClean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🏷</a:t>
            </a:r>
            <a:r>
              <a:rPr lang="en-US" sz="780" dirty="0" smtClean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</a:t>
            </a:r>
            <a:r>
              <a:rPr lang="en-US" sz="780" dirty="0" smtClean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Entities </a:t>
            </a:r>
            <a:r>
              <a:rPr lang="en-US" sz="780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(4 found):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4754880" y="365302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ADCF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• MIT [ORG]  • Stanford [ORG]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4754880" y="385876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ADCF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• Nature [ORG]  • Google [ORG]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4754880" y="4064508"/>
            <a:ext cx="4069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A5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════════════════════════════════════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Conclusions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Future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60520" cy="1920240"/>
          </a:xfrm>
          <a:prstGeom prst="rect">
            <a:avLst/>
          </a:prstGeom>
          <a:solidFill>
            <a:srgbClr val="1A3A2A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07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We Achieved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6642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Production-quality NLP platform (97.2% accuracy)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9385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fully integrated advanced modules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2,225+ articles processed end-to-end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4871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12-language multilingual support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D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Natural language query interface (9 intents)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51960" cy="1920240"/>
          </a:xfrm>
          <a:prstGeom prst="rect">
            <a:avLst/>
          </a:prstGeom>
          <a:solidFill>
            <a:srgbClr val="1A1A3A"/>
          </a:solidFill>
          <a:ln w="6350">
            <a:solidFill>
              <a:srgbClr val="D1E7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070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</a:t>
            </a:r>
            <a:r>
              <a:rPr lang="en-US" sz="1300" b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(Roadmap)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6642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BERT fine-tuning for 98%+ classification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73168" y="19385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Abstractive summarization (HuggingFace T5)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221284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Flask web dashboard (30pt bonus target)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24871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Real-time RSS/NewsAPI integration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7614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Bias detection &amp; explainability module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246120"/>
            <a:ext cx="8686800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282696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Portfolio Value: Demonstrates end-to-end NLP engineering — topic modeling, summarization, multilingual AI, and conversational systems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977640"/>
            <a:ext cx="8686800" cy="502920"/>
          </a:xfrm>
          <a:prstGeom prst="rect">
            <a:avLst/>
          </a:prstGeom>
          <a:solidFill>
            <a:srgbClr val="0D112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0050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github.com/Huynguyen-175/ITAI2373-NewsBot2.0-Final   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ITAI 2373 — Spring 2026   |   Huy Nguyen (Solo)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54456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1376</Words>
  <Application>Microsoft Office PowerPoint</Application>
  <PresentationFormat>On-screen Show (16:9)</PresentationFormat>
  <Paragraphs>349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NewsBot Intelligence System 2.0</dc:title>
  <dc:subject>ITAI 2373 Final Project Presentation</dc:subject>
  <dc:creator>Huy Nguyen</dc:creator>
  <cp:lastModifiedBy>User</cp:lastModifiedBy>
  <cp:revision>6</cp:revision>
  <dcterms:created xsi:type="dcterms:W3CDTF">2026-04-28T19:46:41Z</dcterms:created>
  <dcterms:modified xsi:type="dcterms:W3CDTF">2026-04-28T21:56:08Z</dcterms:modified>
</cp:coreProperties>
</file>